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IdLst>
    <p:sldId id="256" r:id="rId2"/>
    <p:sldId id="257" r:id="rId3"/>
    <p:sldId id="260" r:id="rId4"/>
    <p:sldId id="261" r:id="rId5"/>
    <p:sldId id="262" r:id="rId6"/>
    <p:sldId id="259" r:id="rId7"/>
    <p:sldId id="263" r:id="rId8"/>
    <p:sldId id="264" r:id="rId9"/>
    <p:sldId id="266" r:id="rId10"/>
    <p:sldId id="265" r:id="rId11"/>
    <p:sldId id="267" r:id="rId12"/>
    <p:sldId id="268" r:id="rId13"/>
    <p:sldId id="279" r:id="rId14"/>
    <p:sldId id="269" r:id="rId15"/>
    <p:sldId id="270" r:id="rId16"/>
    <p:sldId id="271" r:id="rId17"/>
    <p:sldId id="273" r:id="rId18"/>
    <p:sldId id="276" r:id="rId19"/>
    <p:sldId id="272" r:id="rId20"/>
    <p:sldId id="274" r:id="rId21"/>
    <p:sldId id="275" r:id="rId22"/>
    <p:sldId id="277" r:id="rId23"/>
    <p:sldId id="278" r:id="rId2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58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133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98"/>
          <a:stretch/>
        </p:blipFill>
        <p:spPr>
          <a:xfrm>
            <a:off x="0" y="0"/>
            <a:ext cx="9143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39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048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635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70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095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304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702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869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36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06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687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707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43EDD6-7778-4796-87E1-00226B23BBEA}" type="datetimeFigureOut">
              <a:rPr lang="en-US" smtClean="0"/>
              <a:t>12/28/2020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DF8288-9627-4896-B99D-F61E6957FCE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859" b="16182"/>
          <a:stretch/>
        </p:blipFill>
        <p:spPr>
          <a:xfrm>
            <a:off x="0" y="0"/>
            <a:ext cx="7718612" cy="68580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706" r="27423" b="16223"/>
          <a:stretch/>
        </p:blipFill>
        <p:spPr>
          <a:xfrm>
            <a:off x="7718611" y="-1"/>
            <a:ext cx="1425389" cy="685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37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2618" y="728409"/>
            <a:ext cx="7674102" cy="2387600"/>
          </a:xfrm>
        </p:spPr>
        <p:txBody>
          <a:bodyPr>
            <a:normAutofit/>
          </a:bodyPr>
          <a:lstStyle/>
          <a:p>
            <a:pPr algn="l"/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Calibri Light (Заголовки)"/>
              </a:rPr>
              <a:t>PaMagiTe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Calibri Light (Заголовки)"/>
              </a:rPr>
              <a:t/>
            </a:r>
            <a:b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Calibri Light (Заголовки)"/>
              </a:rPr>
            </a:b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Calibri Light (Заголовки)"/>
              </a:rPr>
              <a:t>Представляет</a:t>
            </a:r>
            <a:endParaRPr lang="en-US" b="1" dirty="0">
              <a:solidFill>
                <a:schemeClr val="tx2">
                  <a:lumMod val="75000"/>
                </a:schemeClr>
              </a:solidFill>
              <a:latin typeface="Calibri Light (Заголовки)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3578" y="3251627"/>
            <a:ext cx="7674102" cy="1655762"/>
          </a:xfrm>
        </p:spPr>
        <p:txBody>
          <a:bodyPr/>
          <a:lstStyle/>
          <a:p>
            <a:pPr algn="l"/>
            <a:r>
              <a:rPr lang="en-US" dirty="0" smtClean="0"/>
              <a:t> </a:t>
            </a:r>
            <a:r>
              <a:rPr lang="en-US" dirty="0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product: telegram bot</a:t>
            </a:r>
            <a:br>
              <a:rPr lang="en-US" dirty="0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</a:br>
            <a:r>
              <a:rPr lang="en-US" dirty="0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@</a:t>
            </a:r>
            <a:r>
              <a:rPr lang="en-US" dirty="0" err="1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StudentsHouseBot</a:t>
            </a:r>
            <a:endParaRPr lang="en-US" dirty="0" smtClean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7706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379" y="13495"/>
            <a:ext cx="8687181" cy="1325563"/>
          </a:xfrm>
        </p:spPr>
        <p:txBody>
          <a:bodyPr>
            <a:normAutofit/>
          </a:bodyPr>
          <a:lstStyle/>
          <a:p>
            <a:r>
              <a:rPr lang="en-US" sz="3600" dirty="0"/>
              <a:t>@</a:t>
            </a:r>
            <a:r>
              <a:rPr lang="en-US" sz="3600" dirty="0" err="1" smtClean="0"/>
              <a:t>StudentsHouseBot</a:t>
            </a:r>
            <a:r>
              <a:rPr lang="ru-RU" sz="3600" dirty="0" smtClean="0"/>
              <a:t/>
            </a:r>
            <a:br>
              <a:rPr lang="ru-RU" sz="3600" dirty="0" smtClean="0"/>
            </a:br>
            <a:r>
              <a:rPr lang="ru-RU" sz="3600" dirty="0" smtClean="0"/>
              <a:t>Мотивация</a:t>
            </a:r>
            <a:endParaRPr lang="en-US" sz="3600" dirty="0"/>
          </a:p>
        </p:txBody>
      </p:sp>
      <p:grpSp>
        <p:nvGrpSpPr>
          <p:cNvPr id="8" name="Group 7"/>
          <p:cNvGrpSpPr>
            <a:grpSpLocks/>
          </p:cNvGrpSpPr>
          <p:nvPr/>
        </p:nvGrpSpPr>
        <p:grpSpPr bwMode="auto">
          <a:xfrm>
            <a:off x="1990725" y="1543051"/>
            <a:ext cx="5105403" cy="584200"/>
            <a:chOff x="1248" y="2012"/>
            <a:chExt cx="3216" cy="368"/>
          </a:xfrm>
        </p:grpSpPr>
        <p:sp>
          <p:nvSpPr>
            <p:cNvPr id="9" name="Line 8"/>
            <p:cNvSpPr>
              <a:spLocks noChangeShapeType="1"/>
            </p:cNvSpPr>
            <p:nvPr/>
          </p:nvSpPr>
          <p:spPr bwMode="gray">
            <a:xfrm>
              <a:off x="1440" y="2380"/>
              <a:ext cx="3024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Rectangle 9"/>
            <p:cNvSpPr>
              <a:spLocks noChangeArrowheads="1"/>
            </p:cNvSpPr>
            <p:nvPr/>
          </p:nvSpPr>
          <p:spPr bwMode="gray">
            <a:xfrm rot="3419336">
              <a:off x="1261" y="2017"/>
              <a:ext cx="302" cy="328"/>
            </a:xfrm>
            <a:prstGeom prst="rect">
              <a:avLst/>
            </a:prstGeom>
            <a:gradFill rotWithShape="1">
              <a:gsLst>
                <a:gs pos="0">
                  <a:srgbClr val="99CC00"/>
                </a:gs>
                <a:gs pos="100000">
                  <a:srgbClr val="99CC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0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99CC00"/>
              </a:extrusion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en-US" dirty="0"/>
            </a:p>
          </p:txBody>
        </p:sp>
        <p:sp>
          <p:nvSpPr>
            <p:cNvPr id="11" name="Text Box 10"/>
            <p:cNvSpPr txBox="1">
              <a:spLocks noChangeArrowheads="1"/>
            </p:cNvSpPr>
            <p:nvPr/>
          </p:nvSpPr>
          <p:spPr bwMode="gray">
            <a:xfrm>
              <a:off x="1790" y="2012"/>
              <a:ext cx="26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ru-RU" sz="2400" dirty="0" smtClean="0">
                  <a:solidFill>
                    <a:srgbClr val="000000"/>
                  </a:solidFill>
                </a:rPr>
                <a:t>Часто забывал кто и где живёт</a:t>
              </a:r>
              <a:endParaRPr lang="en-US" sz="2400" dirty="0">
                <a:solidFill>
                  <a:srgbClr val="000000"/>
                </a:solidFill>
              </a:endParaRPr>
            </a:p>
          </p:txBody>
        </p:sp>
        <p:sp>
          <p:nvSpPr>
            <p:cNvPr id="12" name="Text Box 11"/>
            <p:cNvSpPr txBox="1">
              <a:spLocks noChangeArrowheads="1"/>
            </p:cNvSpPr>
            <p:nvPr/>
          </p:nvSpPr>
          <p:spPr bwMode="gray">
            <a:xfrm>
              <a:off x="1296" y="2044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400" b="1" dirty="0" smtClean="0">
                  <a:solidFill>
                    <a:srgbClr val="FFFFFF"/>
                  </a:solidFill>
                </a:rPr>
                <a:t>1</a:t>
              </a:r>
              <a:endParaRPr lang="en-US" sz="2400" b="1" dirty="0">
                <a:solidFill>
                  <a:srgbClr val="FFFF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55862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379" y="13495"/>
            <a:ext cx="8687181" cy="1325563"/>
          </a:xfrm>
        </p:spPr>
        <p:txBody>
          <a:bodyPr>
            <a:normAutofit/>
          </a:bodyPr>
          <a:lstStyle/>
          <a:p>
            <a:r>
              <a:rPr lang="en-US" sz="3600" dirty="0"/>
              <a:t>@</a:t>
            </a:r>
            <a:r>
              <a:rPr lang="en-US" sz="3600" dirty="0" err="1" smtClean="0"/>
              <a:t>StudentsHouseBot</a:t>
            </a:r>
            <a:r>
              <a:rPr lang="ru-RU" sz="3600" dirty="0" smtClean="0"/>
              <a:t/>
            </a:r>
            <a:br>
              <a:rPr lang="ru-RU" sz="3600" dirty="0" smtClean="0"/>
            </a:br>
            <a:r>
              <a:rPr lang="ru-RU" sz="3600" dirty="0" smtClean="0"/>
              <a:t>Мотивация</a:t>
            </a:r>
            <a:endParaRPr lang="en-US" sz="3600" dirty="0"/>
          </a:p>
        </p:txBody>
      </p:sp>
      <p:grpSp>
        <p:nvGrpSpPr>
          <p:cNvPr id="8" name="Group 7"/>
          <p:cNvGrpSpPr>
            <a:grpSpLocks/>
          </p:cNvGrpSpPr>
          <p:nvPr/>
        </p:nvGrpSpPr>
        <p:grpSpPr bwMode="auto">
          <a:xfrm>
            <a:off x="1990725" y="1543051"/>
            <a:ext cx="5105403" cy="584200"/>
            <a:chOff x="1248" y="2012"/>
            <a:chExt cx="3216" cy="368"/>
          </a:xfrm>
        </p:grpSpPr>
        <p:sp>
          <p:nvSpPr>
            <p:cNvPr id="9" name="Line 8"/>
            <p:cNvSpPr>
              <a:spLocks noChangeShapeType="1"/>
            </p:cNvSpPr>
            <p:nvPr/>
          </p:nvSpPr>
          <p:spPr bwMode="gray">
            <a:xfrm>
              <a:off x="1440" y="2380"/>
              <a:ext cx="3024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Rectangle 9"/>
            <p:cNvSpPr>
              <a:spLocks noChangeArrowheads="1"/>
            </p:cNvSpPr>
            <p:nvPr/>
          </p:nvSpPr>
          <p:spPr bwMode="gray">
            <a:xfrm rot="3419336">
              <a:off x="1261" y="2017"/>
              <a:ext cx="302" cy="328"/>
            </a:xfrm>
            <a:prstGeom prst="rect">
              <a:avLst/>
            </a:prstGeom>
            <a:gradFill rotWithShape="1">
              <a:gsLst>
                <a:gs pos="0">
                  <a:srgbClr val="99CC00"/>
                </a:gs>
                <a:gs pos="100000">
                  <a:srgbClr val="99CC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0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99CC00"/>
              </a:extrusion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en-US" dirty="0"/>
            </a:p>
          </p:txBody>
        </p:sp>
        <p:sp>
          <p:nvSpPr>
            <p:cNvPr id="11" name="Text Box 10"/>
            <p:cNvSpPr txBox="1">
              <a:spLocks noChangeArrowheads="1"/>
            </p:cNvSpPr>
            <p:nvPr/>
          </p:nvSpPr>
          <p:spPr bwMode="gray">
            <a:xfrm>
              <a:off x="1790" y="2012"/>
              <a:ext cx="26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ru-RU" sz="2400" dirty="0" smtClean="0">
                  <a:solidFill>
                    <a:srgbClr val="000000"/>
                  </a:solidFill>
                </a:rPr>
                <a:t>Часто забывал кто и где живёт</a:t>
              </a:r>
              <a:endParaRPr lang="en-US" sz="2400" dirty="0">
                <a:solidFill>
                  <a:srgbClr val="000000"/>
                </a:solidFill>
              </a:endParaRPr>
            </a:p>
          </p:txBody>
        </p:sp>
        <p:sp>
          <p:nvSpPr>
            <p:cNvPr id="12" name="Text Box 11"/>
            <p:cNvSpPr txBox="1">
              <a:spLocks noChangeArrowheads="1"/>
            </p:cNvSpPr>
            <p:nvPr/>
          </p:nvSpPr>
          <p:spPr bwMode="gray">
            <a:xfrm>
              <a:off x="1296" y="2044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400" b="1" dirty="0" smtClean="0">
                  <a:solidFill>
                    <a:srgbClr val="FFFFFF"/>
                  </a:solidFill>
                </a:rPr>
                <a:t>1</a:t>
              </a:r>
              <a:endParaRPr lang="en-US" sz="2400" b="1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13" name="Group 12"/>
          <p:cNvGrpSpPr>
            <a:grpSpLocks/>
          </p:cNvGrpSpPr>
          <p:nvPr/>
        </p:nvGrpSpPr>
        <p:grpSpPr bwMode="auto">
          <a:xfrm>
            <a:off x="1990725" y="2122490"/>
            <a:ext cx="6700838" cy="842963"/>
            <a:chOff x="1248" y="2459"/>
            <a:chExt cx="4221" cy="531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gray">
            <a:xfrm>
              <a:off x="1440" y="2990"/>
              <a:ext cx="3024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gray">
            <a:xfrm rot="3419336">
              <a:off x="1261" y="2627"/>
              <a:ext cx="302" cy="328"/>
            </a:xfrm>
            <a:prstGeom prst="rect">
              <a:avLst/>
            </a:prstGeom>
            <a:gradFill rotWithShape="1">
              <a:gsLst>
                <a:gs pos="0">
                  <a:srgbClr val="006699"/>
                </a:gs>
                <a:gs pos="100000">
                  <a:srgbClr val="006699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0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6699"/>
              </a:extrusion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en-US"/>
            </a:p>
          </p:txBody>
        </p:sp>
        <p:sp>
          <p:nvSpPr>
            <p:cNvPr id="16" name="Text Box 15"/>
            <p:cNvSpPr txBox="1">
              <a:spLocks noChangeArrowheads="1"/>
            </p:cNvSpPr>
            <p:nvPr/>
          </p:nvSpPr>
          <p:spPr bwMode="gray">
            <a:xfrm>
              <a:off x="1736" y="2459"/>
              <a:ext cx="3733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ru-RU" sz="2400" dirty="0" smtClean="0">
                  <a:solidFill>
                    <a:srgbClr val="000000"/>
                  </a:solidFill>
                </a:rPr>
                <a:t>Не было возможности написать письмо конкретным комнатам</a:t>
              </a:r>
              <a:r>
                <a:rPr lang="en-US" sz="2400" dirty="0" smtClean="0">
                  <a:solidFill>
                    <a:srgbClr val="000000"/>
                  </a:solidFill>
                </a:rPr>
                <a:t>/</a:t>
              </a:r>
              <a:r>
                <a:rPr lang="ru-RU" sz="2400" dirty="0" smtClean="0">
                  <a:solidFill>
                    <a:srgbClr val="000000"/>
                  </a:solidFill>
                </a:rPr>
                <a:t>людям</a:t>
              </a:r>
              <a:endParaRPr lang="en-US" sz="2400" dirty="0">
                <a:solidFill>
                  <a:srgbClr val="000000"/>
                </a:solidFill>
              </a:endParaRPr>
            </a:p>
          </p:txBody>
        </p:sp>
        <p:sp>
          <p:nvSpPr>
            <p:cNvPr id="17" name="Text Box 16"/>
            <p:cNvSpPr txBox="1">
              <a:spLocks noChangeArrowheads="1"/>
            </p:cNvSpPr>
            <p:nvPr/>
          </p:nvSpPr>
          <p:spPr bwMode="gray">
            <a:xfrm>
              <a:off x="1296" y="2654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400" b="1">
                  <a:solidFill>
                    <a:srgbClr val="FFFFFF"/>
                  </a:solidFill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5562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379" y="13495"/>
            <a:ext cx="8687181" cy="1325563"/>
          </a:xfrm>
        </p:spPr>
        <p:txBody>
          <a:bodyPr>
            <a:normAutofit/>
          </a:bodyPr>
          <a:lstStyle/>
          <a:p>
            <a:r>
              <a:rPr lang="en-US" sz="3600" dirty="0"/>
              <a:t>@</a:t>
            </a:r>
            <a:r>
              <a:rPr lang="en-US" sz="3600" dirty="0" err="1" smtClean="0"/>
              <a:t>StudentsHouseBot</a:t>
            </a:r>
            <a:r>
              <a:rPr lang="ru-RU" sz="3600" dirty="0" smtClean="0"/>
              <a:t/>
            </a:r>
            <a:br>
              <a:rPr lang="ru-RU" sz="3600" dirty="0" smtClean="0"/>
            </a:br>
            <a:r>
              <a:rPr lang="ru-RU" sz="3600" dirty="0" smtClean="0"/>
              <a:t>Мотивация</a:t>
            </a:r>
            <a:endParaRPr lang="en-US" sz="3600" dirty="0"/>
          </a:p>
        </p:txBody>
      </p:sp>
      <p:grpSp>
        <p:nvGrpSpPr>
          <p:cNvPr id="8" name="Group 7"/>
          <p:cNvGrpSpPr>
            <a:grpSpLocks/>
          </p:cNvGrpSpPr>
          <p:nvPr/>
        </p:nvGrpSpPr>
        <p:grpSpPr bwMode="auto">
          <a:xfrm>
            <a:off x="1990725" y="1543051"/>
            <a:ext cx="5105403" cy="584200"/>
            <a:chOff x="1248" y="2012"/>
            <a:chExt cx="3216" cy="368"/>
          </a:xfrm>
        </p:grpSpPr>
        <p:sp>
          <p:nvSpPr>
            <p:cNvPr id="9" name="Line 8"/>
            <p:cNvSpPr>
              <a:spLocks noChangeShapeType="1"/>
            </p:cNvSpPr>
            <p:nvPr/>
          </p:nvSpPr>
          <p:spPr bwMode="gray">
            <a:xfrm>
              <a:off x="1440" y="2380"/>
              <a:ext cx="3024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Rectangle 9"/>
            <p:cNvSpPr>
              <a:spLocks noChangeArrowheads="1"/>
            </p:cNvSpPr>
            <p:nvPr/>
          </p:nvSpPr>
          <p:spPr bwMode="gray">
            <a:xfrm rot="3419336">
              <a:off x="1261" y="2017"/>
              <a:ext cx="302" cy="328"/>
            </a:xfrm>
            <a:prstGeom prst="rect">
              <a:avLst/>
            </a:prstGeom>
            <a:gradFill rotWithShape="1">
              <a:gsLst>
                <a:gs pos="0">
                  <a:srgbClr val="99CC00"/>
                </a:gs>
                <a:gs pos="100000">
                  <a:srgbClr val="99CC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0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99CC00"/>
              </a:extrusion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en-US" dirty="0"/>
            </a:p>
          </p:txBody>
        </p:sp>
        <p:sp>
          <p:nvSpPr>
            <p:cNvPr id="11" name="Text Box 10"/>
            <p:cNvSpPr txBox="1">
              <a:spLocks noChangeArrowheads="1"/>
            </p:cNvSpPr>
            <p:nvPr/>
          </p:nvSpPr>
          <p:spPr bwMode="gray">
            <a:xfrm>
              <a:off x="1790" y="2012"/>
              <a:ext cx="26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ru-RU" sz="2400" dirty="0" smtClean="0">
                  <a:solidFill>
                    <a:srgbClr val="000000"/>
                  </a:solidFill>
                </a:rPr>
                <a:t>Часто забывал кто и где живёт</a:t>
              </a:r>
              <a:endParaRPr lang="en-US" sz="2400" dirty="0">
                <a:solidFill>
                  <a:srgbClr val="000000"/>
                </a:solidFill>
              </a:endParaRPr>
            </a:p>
          </p:txBody>
        </p:sp>
        <p:sp>
          <p:nvSpPr>
            <p:cNvPr id="12" name="Text Box 11"/>
            <p:cNvSpPr txBox="1">
              <a:spLocks noChangeArrowheads="1"/>
            </p:cNvSpPr>
            <p:nvPr/>
          </p:nvSpPr>
          <p:spPr bwMode="gray">
            <a:xfrm>
              <a:off x="1296" y="2044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400" b="1" dirty="0" smtClean="0">
                  <a:solidFill>
                    <a:srgbClr val="FFFFFF"/>
                  </a:solidFill>
                </a:rPr>
                <a:t>1</a:t>
              </a:r>
              <a:endParaRPr lang="en-US" sz="2400" b="1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13" name="Group 12"/>
          <p:cNvGrpSpPr>
            <a:grpSpLocks/>
          </p:cNvGrpSpPr>
          <p:nvPr/>
        </p:nvGrpSpPr>
        <p:grpSpPr bwMode="auto">
          <a:xfrm>
            <a:off x="1990725" y="2122490"/>
            <a:ext cx="6700838" cy="842963"/>
            <a:chOff x="1248" y="2459"/>
            <a:chExt cx="4221" cy="531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gray">
            <a:xfrm>
              <a:off x="1440" y="2990"/>
              <a:ext cx="3024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gray">
            <a:xfrm rot="3419336">
              <a:off x="1261" y="2627"/>
              <a:ext cx="302" cy="328"/>
            </a:xfrm>
            <a:prstGeom prst="rect">
              <a:avLst/>
            </a:prstGeom>
            <a:gradFill rotWithShape="1">
              <a:gsLst>
                <a:gs pos="0">
                  <a:srgbClr val="006699"/>
                </a:gs>
                <a:gs pos="100000">
                  <a:srgbClr val="006699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0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6699"/>
              </a:extrusion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en-US"/>
            </a:p>
          </p:txBody>
        </p:sp>
        <p:sp>
          <p:nvSpPr>
            <p:cNvPr id="16" name="Text Box 15"/>
            <p:cNvSpPr txBox="1">
              <a:spLocks noChangeArrowheads="1"/>
            </p:cNvSpPr>
            <p:nvPr/>
          </p:nvSpPr>
          <p:spPr bwMode="gray">
            <a:xfrm>
              <a:off x="1736" y="2459"/>
              <a:ext cx="3733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ru-RU" sz="2400" dirty="0" smtClean="0">
                  <a:solidFill>
                    <a:srgbClr val="000000"/>
                  </a:solidFill>
                </a:rPr>
                <a:t>Не было возможности написать письмо конкретным комнатам</a:t>
              </a:r>
              <a:r>
                <a:rPr lang="en-US" sz="2400" dirty="0" smtClean="0">
                  <a:solidFill>
                    <a:srgbClr val="000000"/>
                  </a:solidFill>
                </a:rPr>
                <a:t>/</a:t>
              </a:r>
              <a:r>
                <a:rPr lang="ru-RU" sz="2400" dirty="0" smtClean="0">
                  <a:solidFill>
                    <a:srgbClr val="000000"/>
                  </a:solidFill>
                </a:rPr>
                <a:t>людям</a:t>
              </a:r>
              <a:endParaRPr lang="en-US" sz="2400" dirty="0">
                <a:solidFill>
                  <a:srgbClr val="000000"/>
                </a:solidFill>
              </a:endParaRPr>
            </a:p>
          </p:txBody>
        </p:sp>
        <p:sp>
          <p:nvSpPr>
            <p:cNvPr id="17" name="Text Box 16"/>
            <p:cNvSpPr txBox="1">
              <a:spLocks noChangeArrowheads="1"/>
            </p:cNvSpPr>
            <p:nvPr/>
          </p:nvSpPr>
          <p:spPr bwMode="gray">
            <a:xfrm>
              <a:off x="1296" y="2654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400" b="1">
                  <a:solidFill>
                    <a:srgbClr val="FFFFFF"/>
                  </a:solidFill>
                </a:rPr>
                <a:t>2</a:t>
              </a:r>
            </a:p>
          </p:txBody>
        </p:sp>
      </p:grpSp>
      <p:grpSp>
        <p:nvGrpSpPr>
          <p:cNvPr id="18" name="Group 17"/>
          <p:cNvGrpSpPr>
            <a:grpSpLocks/>
          </p:cNvGrpSpPr>
          <p:nvPr/>
        </p:nvGrpSpPr>
        <p:grpSpPr bwMode="auto">
          <a:xfrm>
            <a:off x="1990725" y="2973397"/>
            <a:ext cx="8520122" cy="830264"/>
            <a:chOff x="1248" y="3057"/>
            <a:chExt cx="5367" cy="523"/>
          </a:xfrm>
        </p:grpSpPr>
        <p:sp>
          <p:nvSpPr>
            <p:cNvPr id="19" name="Line 18"/>
            <p:cNvSpPr>
              <a:spLocks noChangeShapeType="1"/>
            </p:cNvSpPr>
            <p:nvPr/>
          </p:nvSpPr>
          <p:spPr bwMode="gray">
            <a:xfrm>
              <a:off x="1441" y="3579"/>
              <a:ext cx="3023" cy="1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gray">
            <a:xfrm rot="3419336">
              <a:off x="1261" y="3217"/>
              <a:ext cx="302" cy="328"/>
            </a:xfrm>
            <a:prstGeom prst="rect">
              <a:avLst/>
            </a:prstGeom>
            <a:gradFill rotWithShape="1">
              <a:gsLst>
                <a:gs pos="0">
                  <a:srgbClr val="FF9933"/>
                </a:gs>
                <a:gs pos="100000">
                  <a:srgbClr val="FF9933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0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9933"/>
              </a:extrusion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en-US"/>
            </a:p>
          </p:txBody>
        </p:sp>
        <p:sp>
          <p:nvSpPr>
            <p:cNvPr id="21" name="Text Box 20"/>
            <p:cNvSpPr txBox="1">
              <a:spLocks noChangeArrowheads="1"/>
            </p:cNvSpPr>
            <p:nvPr/>
          </p:nvSpPr>
          <p:spPr bwMode="gray">
            <a:xfrm>
              <a:off x="1691" y="3057"/>
              <a:ext cx="4924" cy="5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ru-RU" sz="2400" dirty="0" smtClean="0">
                  <a:solidFill>
                    <a:srgbClr val="000000"/>
                  </a:solidFill>
                </a:rPr>
                <a:t>Не было общего места куда попадает полезная информация с различных источников </a:t>
              </a:r>
              <a:r>
                <a:rPr lang="en-US" sz="2400" dirty="0" smtClean="0">
                  <a:solidFill>
                    <a:srgbClr val="000000"/>
                  </a:solidFill>
                </a:rPr>
                <a:t>(V</a:t>
              </a:r>
              <a:r>
                <a:rPr lang="en-US" sz="2400" dirty="0">
                  <a:solidFill>
                    <a:srgbClr val="000000"/>
                  </a:solidFill>
                </a:rPr>
                <a:t>K</a:t>
              </a:r>
              <a:r>
                <a:rPr lang="en-US" sz="2400" dirty="0" smtClean="0">
                  <a:solidFill>
                    <a:srgbClr val="000000"/>
                  </a:solidFill>
                </a:rPr>
                <a:t>)</a:t>
              </a:r>
              <a:endParaRPr lang="en-US" sz="2400" dirty="0">
                <a:solidFill>
                  <a:srgbClr val="000000"/>
                </a:solidFill>
              </a:endParaRPr>
            </a:p>
          </p:txBody>
        </p:sp>
        <p:sp>
          <p:nvSpPr>
            <p:cNvPr id="22" name="Text Box 21"/>
            <p:cNvSpPr txBox="1">
              <a:spLocks noChangeArrowheads="1"/>
            </p:cNvSpPr>
            <p:nvPr/>
          </p:nvSpPr>
          <p:spPr bwMode="gray">
            <a:xfrm>
              <a:off x="1296" y="3244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400" b="1" dirty="0">
                  <a:solidFill>
                    <a:srgbClr val="FFFFFF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94466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379" y="13495"/>
            <a:ext cx="8687181" cy="1325563"/>
          </a:xfrm>
        </p:spPr>
        <p:txBody>
          <a:bodyPr>
            <a:normAutofit/>
          </a:bodyPr>
          <a:lstStyle/>
          <a:p>
            <a:r>
              <a:rPr lang="en-US" sz="3600" dirty="0"/>
              <a:t>@</a:t>
            </a:r>
            <a:r>
              <a:rPr lang="en-US" sz="3600" dirty="0" err="1" smtClean="0"/>
              <a:t>StudentsHouseBot</a:t>
            </a:r>
            <a:r>
              <a:rPr lang="ru-RU" sz="3600" dirty="0" smtClean="0"/>
              <a:t/>
            </a:r>
            <a:br>
              <a:rPr lang="ru-RU" sz="3600" dirty="0" smtClean="0"/>
            </a:br>
            <a:r>
              <a:rPr lang="ru-RU" sz="3600" dirty="0" smtClean="0"/>
              <a:t>Мотивация</a:t>
            </a:r>
            <a:endParaRPr lang="en-US" sz="3600" dirty="0"/>
          </a:p>
        </p:txBody>
      </p:sp>
      <p:grpSp>
        <p:nvGrpSpPr>
          <p:cNvPr id="8" name="Group 7"/>
          <p:cNvGrpSpPr>
            <a:grpSpLocks/>
          </p:cNvGrpSpPr>
          <p:nvPr/>
        </p:nvGrpSpPr>
        <p:grpSpPr bwMode="auto">
          <a:xfrm>
            <a:off x="1990725" y="1543051"/>
            <a:ext cx="5105403" cy="584200"/>
            <a:chOff x="1248" y="2012"/>
            <a:chExt cx="3216" cy="368"/>
          </a:xfrm>
        </p:grpSpPr>
        <p:sp>
          <p:nvSpPr>
            <p:cNvPr id="9" name="Line 8"/>
            <p:cNvSpPr>
              <a:spLocks noChangeShapeType="1"/>
            </p:cNvSpPr>
            <p:nvPr/>
          </p:nvSpPr>
          <p:spPr bwMode="gray">
            <a:xfrm>
              <a:off x="1440" y="2380"/>
              <a:ext cx="3024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Rectangle 9"/>
            <p:cNvSpPr>
              <a:spLocks noChangeArrowheads="1"/>
            </p:cNvSpPr>
            <p:nvPr/>
          </p:nvSpPr>
          <p:spPr bwMode="gray">
            <a:xfrm rot="3419336">
              <a:off x="1261" y="2017"/>
              <a:ext cx="302" cy="328"/>
            </a:xfrm>
            <a:prstGeom prst="rect">
              <a:avLst/>
            </a:prstGeom>
            <a:gradFill rotWithShape="1">
              <a:gsLst>
                <a:gs pos="0">
                  <a:srgbClr val="99CC00"/>
                </a:gs>
                <a:gs pos="100000">
                  <a:srgbClr val="99CC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0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99CC00"/>
              </a:extrusion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en-US" dirty="0"/>
            </a:p>
          </p:txBody>
        </p:sp>
        <p:sp>
          <p:nvSpPr>
            <p:cNvPr id="11" name="Text Box 10"/>
            <p:cNvSpPr txBox="1">
              <a:spLocks noChangeArrowheads="1"/>
            </p:cNvSpPr>
            <p:nvPr/>
          </p:nvSpPr>
          <p:spPr bwMode="gray">
            <a:xfrm>
              <a:off x="1790" y="2012"/>
              <a:ext cx="26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ru-RU" sz="2400" dirty="0" smtClean="0">
                  <a:solidFill>
                    <a:srgbClr val="000000"/>
                  </a:solidFill>
                </a:rPr>
                <a:t>Часто забывал кто и где живёт</a:t>
              </a:r>
              <a:endParaRPr lang="en-US" sz="2400" dirty="0">
                <a:solidFill>
                  <a:srgbClr val="000000"/>
                </a:solidFill>
              </a:endParaRPr>
            </a:p>
          </p:txBody>
        </p:sp>
        <p:sp>
          <p:nvSpPr>
            <p:cNvPr id="12" name="Text Box 11"/>
            <p:cNvSpPr txBox="1">
              <a:spLocks noChangeArrowheads="1"/>
            </p:cNvSpPr>
            <p:nvPr/>
          </p:nvSpPr>
          <p:spPr bwMode="gray">
            <a:xfrm>
              <a:off x="1296" y="2044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400" b="1" dirty="0" smtClean="0">
                  <a:solidFill>
                    <a:srgbClr val="FFFFFF"/>
                  </a:solidFill>
                </a:rPr>
                <a:t>1</a:t>
              </a:r>
              <a:endParaRPr lang="en-US" sz="2400" b="1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13" name="Group 12"/>
          <p:cNvGrpSpPr>
            <a:grpSpLocks/>
          </p:cNvGrpSpPr>
          <p:nvPr/>
        </p:nvGrpSpPr>
        <p:grpSpPr bwMode="auto">
          <a:xfrm>
            <a:off x="1990725" y="2122490"/>
            <a:ext cx="6700838" cy="842963"/>
            <a:chOff x="1248" y="2459"/>
            <a:chExt cx="4221" cy="531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gray">
            <a:xfrm>
              <a:off x="1440" y="2990"/>
              <a:ext cx="3024" cy="0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Rectangle 14"/>
            <p:cNvSpPr>
              <a:spLocks noChangeArrowheads="1"/>
            </p:cNvSpPr>
            <p:nvPr/>
          </p:nvSpPr>
          <p:spPr bwMode="gray">
            <a:xfrm rot="3419336">
              <a:off x="1261" y="2627"/>
              <a:ext cx="302" cy="328"/>
            </a:xfrm>
            <a:prstGeom prst="rect">
              <a:avLst/>
            </a:prstGeom>
            <a:gradFill rotWithShape="1">
              <a:gsLst>
                <a:gs pos="0">
                  <a:srgbClr val="006699"/>
                </a:gs>
                <a:gs pos="100000">
                  <a:srgbClr val="006699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0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6699"/>
              </a:extrusion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en-US"/>
            </a:p>
          </p:txBody>
        </p:sp>
        <p:sp>
          <p:nvSpPr>
            <p:cNvPr id="16" name="Text Box 15"/>
            <p:cNvSpPr txBox="1">
              <a:spLocks noChangeArrowheads="1"/>
            </p:cNvSpPr>
            <p:nvPr/>
          </p:nvSpPr>
          <p:spPr bwMode="gray">
            <a:xfrm>
              <a:off x="1736" y="2459"/>
              <a:ext cx="3733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ru-RU" sz="2400" dirty="0" smtClean="0">
                  <a:solidFill>
                    <a:srgbClr val="000000"/>
                  </a:solidFill>
                </a:rPr>
                <a:t>Не было возможности написать письмо конкретным комнатам</a:t>
              </a:r>
              <a:r>
                <a:rPr lang="en-US" sz="2400" dirty="0" smtClean="0">
                  <a:solidFill>
                    <a:srgbClr val="000000"/>
                  </a:solidFill>
                </a:rPr>
                <a:t>/</a:t>
              </a:r>
              <a:r>
                <a:rPr lang="ru-RU" sz="2400" dirty="0" smtClean="0">
                  <a:solidFill>
                    <a:srgbClr val="000000"/>
                  </a:solidFill>
                </a:rPr>
                <a:t>людям</a:t>
              </a:r>
              <a:endParaRPr lang="en-US" sz="2400" dirty="0">
                <a:solidFill>
                  <a:srgbClr val="000000"/>
                </a:solidFill>
              </a:endParaRPr>
            </a:p>
          </p:txBody>
        </p:sp>
        <p:sp>
          <p:nvSpPr>
            <p:cNvPr id="17" name="Text Box 16"/>
            <p:cNvSpPr txBox="1">
              <a:spLocks noChangeArrowheads="1"/>
            </p:cNvSpPr>
            <p:nvPr/>
          </p:nvSpPr>
          <p:spPr bwMode="gray">
            <a:xfrm>
              <a:off x="1296" y="2654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400" b="1">
                  <a:solidFill>
                    <a:srgbClr val="FFFFFF"/>
                  </a:solidFill>
                </a:rPr>
                <a:t>2</a:t>
              </a:r>
            </a:p>
          </p:txBody>
        </p:sp>
      </p:grpSp>
      <p:grpSp>
        <p:nvGrpSpPr>
          <p:cNvPr id="18" name="Group 17"/>
          <p:cNvGrpSpPr>
            <a:grpSpLocks/>
          </p:cNvGrpSpPr>
          <p:nvPr/>
        </p:nvGrpSpPr>
        <p:grpSpPr bwMode="auto">
          <a:xfrm>
            <a:off x="1990725" y="2973397"/>
            <a:ext cx="8520122" cy="830264"/>
            <a:chOff x="1248" y="3057"/>
            <a:chExt cx="5367" cy="523"/>
          </a:xfrm>
        </p:grpSpPr>
        <p:sp>
          <p:nvSpPr>
            <p:cNvPr id="19" name="Line 18"/>
            <p:cNvSpPr>
              <a:spLocks noChangeShapeType="1"/>
            </p:cNvSpPr>
            <p:nvPr/>
          </p:nvSpPr>
          <p:spPr bwMode="gray">
            <a:xfrm>
              <a:off x="1441" y="3579"/>
              <a:ext cx="3023" cy="1"/>
            </a:xfrm>
            <a:prstGeom prst="line">
              <a:avLst/>
            </a:prstGeom>
            <a:noFill/>
            <a:ln w="25400">
              <a:solidFill>
                <a:srgbClr val="969696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gray">
            <a:xfrm rot="3419336">
              <a:off x="1261" y="3217"/>
              <a:ext cx="302" cy="328"/>
            </a:xfrm>
            <a:prstGeom prst="rect">
              <a:avLst/>
            </a:prstGeom>
            <a:gradFill rotWithShape="1">
              <a:gsLst>
                <a:gs pos="0">
                  <a:srgbClr val="FF9933"/>
                </a:gs>
                <a:gs pos="100000">
                  <a:srgbClr val="FF9933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9525">
              <a:miter lim="800000"/>
              <a:headEnd/>
              <a:tailEnd/>
            </a:ln>
            <a:effectLst/>
            <a:scene3d>
              <a:camera prst="legacyPerspectiveFront">
                <a:rot lat="0" lon="1500000" rev="0"/>
              </a:camera>
              <a:lightRig rig="legacyFlat4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9933"/>
              </a:extrusion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en-US"/>
            </a:p>
          </p:txBody>
        </p:sp>
        <p:sp>
          <p:nvSpPr>
            <p:cNvPr id="21" name="Text Box 20"/>
            <p:cNvSpPr txBox="1">
              <a:spLocks noChangeArrowheads="1"/>
            </p:cNvSpPr>
            <p:nvPr/>
          </p:nvSpPr>
          <p:spPr bwMode="gray">
            <a:xfrm>
              <a:off x="1691" y="3057"/>
              <a:ext cx="4924" cy="5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ru-RU" sz="2400" dirty="0" smtClean="0">
                  <a:solidFill>
                    <a:srgbClr val="000000"/>
                  </a:solidFill>
                </a:rPr>
                <a:t>Не было общего места куда попадает полезная информация с различных источников </a:t>
              </a:r>
              <a:r>
                <a:rPr lang="en-US" sz="2400" dirty="0" smtClean="0">
                  <a:solidFill>
                    <a:srgbClr val="000000"/>
                  </a:solidFill>
                </a:rPr>
                <a:t>(V</a:t>
              </a:r>
              <a:r>
                <a:rPr lang="en-US" sz="2400" dirty="0">
                  <a:solidFill>
                    <a:srgbClr val="000000"/>
                  </a:solidFill>
                </a:rPr>
                <a:t>K</a:t>
              </a:r>
              <a:r>
                <a:rPr lang="en-US" sz="2400" dirty="0" smtClean="0">
                  <a:solidFill>
                    <a:srgbClr val="000000"/>
                  </a:solidFill>
                </a:rPr>
                <a:t>)</a:t>
              </a:r>
              <a:endParaRPr lang="en-US" sz="2400" dirty="0">
                <a:solidFill>
                  <a:srgbClr val="000000"/>
                </a:solidFill>
              </a:endParaRPr>
            </a:p>
          </p:txBody>
        </p:sp>
        <p:sp>
          <p:nvSpPr>
            <p:cNvPr id="22" name="Text Box 21"/>
            <p:cNvSpPr txBox="1">
              <a:spLocks noChangeArrowheads="1"/>
            </p:cNvSpPr>
            <p:nvPr/>
          </p:nvSpPr>
          <p:spPr bwMode="gray">
            <a:xfrm>
              <a:off x="1296" y="3244"/>
              <a:ext cx="21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400" b="1" dirty="0">
                  <a:solidFill>
                    <a:srgbClr val="FFFFFF"/>
                  </a:solidFill>
                </a:rPr>
                <a:t>3</a:t>
              </a:r>
            </a:p>
          </p:txBody>
        </p:sp>
      </p:grp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4337" y="3981513"/>
            <a:ext cx="3320025" cy="264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068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/>
              <a:t>П</a:t>
            </a:r>
            <a:r>
              <a:rPr lang="ru-RU" sz="4000" dirty="0" smtClean="0"/>
              <a:t>омогает решать эти и другие задачи</a:t>
            </a:r>
            <a:endParaRPr lang="ru-RU" sz="4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4005" y="1558833"/>
            <a:ext cx="4534138" cy="4171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6686" y="2342606"/>
            <a:ext cx="699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/start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482" y="2779647"/>
            <a:ext cx="975445" cy="48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644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Описание команд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4" y="2360022"/>
            <a:ext cx="1288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/help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960" y="2798704"/>
            <a:ext cx="434378" cy="32006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067" y="1776550"/>
            <a:ext cx="6048953" cy="364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052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Не забудьте зарегистрироваться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4" y="2360022"/>
            <a:ext cx="145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/registration 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8840" y="1611085"/>
            <a:ext cx="4457651" cy="4210433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445" y="2854765"/>
            <a:ext cx="358171" cy="312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621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Вы можете изменять данные о себе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4" y="2360022"/>
            <a:ext cx="145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/profile 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760" y="2178075"/>
            <a:ext cx="6364664" cy="201156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533" y="2778791"/>
            <a:ext cx="385815" cy="34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928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Кто живёт в комнате?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4" y="2360022"/>
            <a:ext cx="1288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/room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404" y="2815579"/>
            <a:ext cx="507836" cy="3286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6742" y="1872343"/>
            <a:ext cx="6127682" cy="3494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875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Где живёт студент?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4" y="2360022"/>
            <a:ext cx="1288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/surname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27" y="2798162"/>
            <a:ext cx="438723" cy="32173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6516" y="2285896"/>
            <a:ext cx="6043748" cy="193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083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Пишем своим соседям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4" y="2360022"/>
            <a:ext cx="2577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</a:t>
            </a:r>
            <a:r>
              <a:rPr lang="en-US" dirty="0" err="1" smtClean="0">
                <a:solidFill>
                  <a:schemeClr val="accent1">
                    <a:lumMod val="75000"/>
                  </a:schemeClr>
                </a:solidFill>
              </a:rPr>
              <a:t>send_message_to_room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863" y="2840036"/>
            <a:ext cx="636829" cy="51223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885" y="3899807"/>
            <a:ext cx="4761387" cy="1316627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886" y="1810029"/>
            <a:ext cx="4744538" cy="190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68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Поздравляем соседей с ДР!!!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4" y="2360022"/>
            <a:ext cx="2577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</a:t>
            </a:r>
            <a:r>
              <a:rPr lang="en-US" dirty="0" err="1" smtClean="0">
                <a:solidFill>
                  <a:schemeClr val="accent1">
                    <a:lumMod val="75000"/>
                  </a:schemeClr>
                </a:solidFill>
              </a:rPr>
              <a:t>send_message_to_room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863" y="2840036"/>
            <a:ext cx="636829" cy="512232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951" y="4409259"/>
            <a:ext cx="4411980" cy="183642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951" y="1556566"/>
            <a:ext cx="4468793" cy="2751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516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Можно узнать свежую информацию с ваших источников информации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4" y="2360022"/>
            <a:ext cx="1288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/info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2" y="2729354"/>
            <a:ext cx="383175" cy="429619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5954" y="1996635"/>
            <a:ext cx="6808470" cy="232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443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Ваш список отслеживаемых групп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434904" y="2360022"/>
            <a:ext cx="1454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</a:t>
            </a:r>
            <a:r>
              <a:rPr lang="en-US" dirty="0" err="1" smtClean="0">
                <a:solidFill>
                  <a:schemeClr val="accent1">
                    <a:lumMod val="75000"/>
                  </a:schemeClr>
                </a:solidFill>
              </a:rPr>
              <a:t>my_groups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027" y="2887969"/>
            <a:ext cx="880139" cy="30349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1906" y="2360022"/>
            <a:ext cx="6686335" cy="109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080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Подписка</a:t>
            </a:r>
            <a:r>
              <a:rPr lang="en-US" sz="4000" dirty="0" smtClean="0"/>
              <a:t>/</a:t>
            </a:r>
            <a:r>
              <a:rPr lang="ru-RU" sz="4000" dirty="0" smtClean="0"/>
              <a:t>Отписка от групп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4" y="2360022"/>
            <a:ext cx="1942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</a:t>
            </a:r>
            <a:r>
              <a:rPr lang="en-US" dirty="0" err="1" smtClean="0">
                <a:solidFill>
                  <a:schemeClr val="accent1">
                    <a:lumMod val="75000"/>
                  </a:schemeClr>
                </a:solidFill>
              </a:rPr>
              <a:t>vk_management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638" y="2806871"/>
            <a:ext cx="544631" cy="34563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9210" y="1698692"/>
            <a:ext cx="4648493" cy="103066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9210" y="2972489"/>
            <a:ext cx="5617762" cy="248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620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3862" y="474971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Можно смотреть как последний пост</a:t>
            </a:r>
            <a:r>
              <a:rPr lang="en-US" sz="4000" dirty="0" smtClean="0"/>
              <a:t>, </a:t>
            </a:r>
            <a:r>
              <a:rPr lang="ru-RU" sz="4000" dirty="0" smtClean="0"/>
              <a:t>как и получать сообщение в </a:t>
            </a:r>
            <a:r>
              <a:rPr lang="ru-RU" sz="4000" dirty="0" smtClean="0"/>
              <a:t>тек</a:t>
            </a:r>
            <a:r>
              <a:rPr lang="ru-RU" sz="4000" dirty="0"/>
              <a:t>у</a:t>
            </a:r>
            <a:r>
              <a:rPr lang="ru-RU" sz="4000" dirty="0" smtClean="0"/>
              <a:t>щем </a:t>
            </a:r>
            <a:r>
              <a:rPr lang="ru-RU" sz="4000" dirty="0" smtClean="0"/>
              <a:t>времени</a:t>
            </a:r>
            <a:endParaRPr lang="ru-RU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531223" y="2360022"/>
            <a:ext cx="19855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1">
                    <a:lumMod val="75000"/>
                  </a:schemeClr>
                </a:solidFill>
              </a:rPr>
              <a:t>/</a:t>
            </a:r>
            <a:r>
              <a:rPr lang="en-US" dirty="0" err="1" smtClean="0">
                <a:solidFill>
                  <a:schemeClr val="accent1">
                    <a:lumMod val="75000"/>
                  </a:schemeClr>
                </a:solidFill>
              </a:rPr>
              <a:t>vk_manag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e</a:t>
            </a:r>
            <a:r>
              <a:rPr lang="en-US" dirty="0" err="1" smtClean="0">
                <a:solidFill>
                  <a:schemeClr val="accent1">
                    <a:lumMod val="75000"/>
                  </a:schemeClr>
                </a:solidFill>
              </a:rPr>
              <a:t>ment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638" y="2806871"/>
            <a:ext cx="544631" cy="34563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5495" y="1839293"/>
            <a:ext cx="5696027" cy="40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105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Планы на будущее</a:t>
            </a:r>
            <a:endParaRPr lang="ru-RU" sz="4000" dirty="0"/>
          </a:p>
        </p:txBody>
      </p:sp>
      <p:sp>
        <p:nvSpPr>
          <p:cNvPr id="6" name="TextBox 5"/>
          <p:cNvSpPr txBox="1"/>
          <p:nvPr/>
        </p:nvSpPr>
        <p:spPr>
          <a:xfrm>
            <a:off x="303140" y="1715589"/>
            <a:ext cx="7540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Реализация более конкретных рассылок по этажам</a:t>
            </a:r>
            <a:r>
              <a:rPr lang="en-US" dirty="0" smtClean="0"/>
              <a:t>/</a:t>
            </a:r>
            <a:r>
              <a:rPr lang="ru-RU" dirty="0" smtClean="0"/>
              <a:t>группам по интересам</a:t>
            </a:r>
          </a:p>
          <a:p>
            <a:r>
              <a:rPr lang="en-US" dirty="0" smtClean="0"/>
              <a:t>/</a:t>
            </a:r>
            <a:r>
              <a:rPr lang="ru-RU" dirty="0" smtClean="0"/>
              <a:t>студент</a:t>
            </a:r>
            <a:r>
              <a:rPr lang="ru-RU" dirty="0" smtClean="0"/>
              <a:t>ам</a:t>
            </a:r>
            <a:r>
              <a:rPr lang="ru-RU" dirty="0" smtClean="0"/>
              <a:t> </a:t>
            </a:r>
            <a:r>
              <a:rPr lang="ru-RU" dirty="0" smtClean="0"/>
              <a:t>одного факультета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4152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Планы на будущее</a:t>
            </a:r>
            <a:endParaRPr lang="ru-RU" sz="4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987" y="3329693"/>
            <a:ext cx="4147000" cy="2687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3140" y="1715589"/>
            <a:ext cx="7540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Реализация более конкретных рассылок по этажам</a:t>
            </a:r>
            <a:r>
              <a:rPr lang="en-US" dirty="0" smtClean="0"/>
              <a:t>/</a:t>
            </a:r>
            <a:r>
              <a:rPr lang="ru-RU" dirty="0" smtClean="0"/>
              <a:t>группам по интересам</a:t>
            </a:r>
          </a:p>
          <a:p>
            <a:r>
              <a:rPr lang="en-US" dirty="0" smtClean="0"/>
              <a:t>/</a:t>
            </a:r>
            <a:r>
              <a:rPr lang="ru-RU" dirty="0" smtClean="0"/>
              <a:t>студентам </a:t>
            </a:r>
            <a:r>
              <a:rPr lang="ru-RU" dirty="0" smtClean="0"/>
              <a:t>одного факультета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57574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Планы на будущее</a:t>
            </a:r>
            <a:endParaRPr lang="ru-RU" sz="4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987" y="3329693"/>
            <a:ext cx="4147000" cy="2687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3140" y="1715589"/>
            <a:ext cx="7540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Реализация более конкретных рассылок по этажам</a:t>
            </a:r>
            <a:r>
              <a:rPr lang="en-US" dirty="0" smtClean="0"/>
              <a:t>/</a:t>
            </a:r>
            <a:r>
              <a:rPr lang="ru-RU" dirty="0" smtClean="0"/>
              <a:t>группам по интересам</a:t>
            </a:r>
          </a:p>
          <a:p>
            <a:r>
              <a:rPr lang="en-US" dirty="0" smtClean="0"/>
              <a:t>/</a:t>
            </a:r>
            <a:r>
              <a:rPr lang="ru-RU" dirty="0" smtClean="0"/>
              <a:t>студентам </a:t>
            </a:r>
            <a:r>
              <a:rPr lang="ru-RU" dirty="0" smtClean="0"/>
              <a:t>одного факультета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297724" y="2621952"/>
            <a:ext cx="8713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Ввести оплату внутренних услуг</a:t>
            </a:r>
            <a:r>
              <a:rPr lang="en-US" dirty="0" smtClean="0"/>
              <a:t>/</a:t>
            </a:r>
            <a:r>
              <a:rPr lang="ru-RU" dirty="0" smtClean="0"/>
              <a:t>услуг студентов (блинчики</a:t>
            </a:r>
            <a:r>
              <a:rPr lang="en-US" dirty="0" smtClean="0"/>
              <a:t>, </a:t>
            </a:r>
            <a:r>
              <a:rPr lang="ru-RU" dirty="0" smtClean="0"/>
              <a:t>продажа ненужных вещей)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5697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Планы на будущее</a:t>
            </a:r>
            <a:endParaRPr lang="ru-RU" sz="4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987" y="3329693"/>
            <a:ext cx="4147000" cy="2687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3140" y="1715589"/>
            <a:ext cx="7540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Реализация более конкретных рассылок по этажам</a:t>
            </a:r>
            <a:r>
              <a:rPr lang="en-US" dirty="0" smtClean="0"/>
              <a:t>/</a:t>
            </a:r>
            <a:r>
              <a:rPr lang="ru-RU" dirty="0" smtClean="0"/>
              <a:t>группам по интересам</a:t>
            </a:r>
          </a:p>
          <a:p>
            <a:r>
              <a:rPr lang="en-US" dirty="0" smtClean="0"/>
              <a:t>/</a:t>
            </a:r>
            <a:r>
              <a:rPr lang="ru-RU" dirty="0" smtClean="0"/>
              <a:t>студентам </a:t>
            </a:r>
            <a:r>
              <a:rPr lang="ru-RU" dirty="0" smtClean="0"/>
              <a:t>одного факультета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297724" y="2621952"/>
            <a:ext cx="8713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Ввести оплату внутренних услуг</a:t>
            </a:r>
            <a:r>
              <a:rPr lang="en-US" dirty="0" smtClean="0"/>
              <a:t>/</a:t>
            </a:r>
            <a:r>
              <a:rPr lang="ru-RU" dirty="0" smtClean="0"/>
              <a:t>услуг студентов (блинчики</a:t>
            </a:r>
            <a:r>
              <a:rPr lang="en-US" dirty="0" smtClean="0"/>
              <a:t>, </a:t>
            </a:r>
            <a:r>
              <a:rPr lang="ru-RU" dirty="0" smtClean="0"/>
              <a:t>продажа ненужных вещей)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297724" y="3431177"/>
            <a:ext cx="29610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Вести расписание событий</a:t>
            </a:r>
            <a:br>
              <a:rPr lang="ru-RU" dirty="0" smtClean="0"/>
            </a:br>
            <a:r>
              <a:rPr lang="ru-RU" dirty="0" smtClean="0"/>
              <a:t>общежития </a:t>
            </a:r>
            <a:r>
              <a:rPr lang="ru-RU" dirty="0" err="1" smtClean="0"/>
              <a:t>тех.работы</a:t>
            </a:r>
            <a:r>
              <a:rPr lang="en-US" dirty="0" smtClean="0"/>
              <a:t>/</a:t>
            </a:r>
            <a:r>
              <a:rPr lang="ru-RU" dirty="0" smtClean="0"/>
              <a:t> смена кухонь</a:t>
            </a:r>
            <a:r>
              <a:rPr lang="en-US" dirty="0" smtClean="0"/>
              <a:t>/</a:t>
            </a:r>
            <a:r>
              <a:rPr lang="ru-RU" dirty="0" smtClean="0"/>
              <a:t>день прививания от гриппа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57850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Планы на будущее</a:t>
            </a:r>
            <a:endParaRPr lang="ru-RU" sz="4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6987" y="3329693"/>
            <a:ext cx="4147000" cy="2687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3140" y="1715589"/>
            <a:ext cx="7540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Реализация более конкретных рассылок по этажам</a:t>
            </a:r>
            <a:r>
              <a:rPr lang="en-US" dirty="0" smtClean="0"/>
              <a:t>/</a:t>
            </a:r>
            <a:r>
              <a:rPr lang="ru-RU" dirty="0" smtClean="0"/>
              <a:t>группам по интересам</a:t>
            </a:r>
          </a:p>
          <a:p>
            <a:r>
              <a:rPr lang="en-US" dirty="0" smtClean="0"/>
              <a:t>/</a:t>
            </a:r>
            <a:r>
              <a:rPr lang="ru-RU" dirty="0" smtClean="0"/>
              <a:t>студентам </a:t>
            </a:r>
            <a:r>
              <a:rPr lang="ru-RU" dirty="0" smtClean="0"/>
              <a:t>одного факультета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297724" y="2621952"/>
            <a:ext cx="8713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Ввести оплату внутренних услуг</a:t>
            </a:r>
            <a:r>
              <a:rPr lang="en-US" dirty="0" smtClean="0"/>
              <a:t>/</a:t>
            </a:r>
            <a:r>
              <a:rPr lang="ru-RU" dirty="0" smtClean="0"/>
              <a:t>услуг студентов (блинчики</a:t>
            </a:r>
            <a:r>
              <a:rPr lang="en-US" dirty="0" smtClean="0"/>
              <a:t>, </a:t>
            </a:r>
            <a:r>
              <a:rPr lang="ru-RU" dirty="0" smtClean="0"/>
              <a:t>продажа ненужных вещей)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297724" y="3431177"/>
            <a:ext cx="29610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Вести расписание событий</a:t>
            </a:r>
            <a:br>
              <a:rPr lang="ru-RU" dirty="0" smtClean="0"/>
            </a:br>
            <a:r>
              <a:rPr lang="ru-RU" dirty="0" smtClean="0"/>
              <a:t>общежития </a:t>
            </a:r>
            <a:r>
              <a:rPr lang="ru-RU" dirty="0" err="1" smtClean="0"/>
              <a:t>тех.работы</a:t>
            </a:r>
            <a:r>
              <a:rPr lang="en-US" dirty="0" smtClean="0"/>
              <a:t>/</a:t>
            </a:r>
            <a:r>
              <a:rPr lang="ru-RU" dirty="0" smtClean="0"/>
              <a:t> смена кухонь</a:t>
            </a:r>
            <a:r>
              <a:rPr lang="en-US" dirty="0" smtClean="0"/>
              <a:t>/</a:t>
            </a:r>
            <a:r>
              <a:rPr lang="ru-RU" dirty="0" smtClean="0"/>
              <a:t>день прививания от гриппа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297724" y="5071399"/>
            <a:ext cx="34924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 smtClean="0"/>
              <a:t>Крч</a:t>
            </a:r>
            <a:r>
              <a:rPr lang="ru-RU" dirty="0" smtClean="0"/>
              <a:t> кучу всего можно придумать </a:t>
            </a:r>
            <a:br>
              <a:rPr lang="ru-RU" dirty="0" smtClean="0"/>
            </a:br>
            <a:r>
              <a:rPr lang="ru-RU" dirty="0" smtClean="0"/>
              <a:t>и реализовать</a:t>
            </a:r>
            <a:r>
              <a:rPr lang="en-US" dirty="0" smtClean="0"/>
              <a:t>, </a:t>
            </a:r>
            <a:r>
              <a:rPr lang="ru-RU" dirty="0" smtClean="0"/>
              <a:t>главное чтобы </a:t>
            </a:r>
            <a:br>
              <a:rPr lang="ru-RU" dirty="0" smtClean="0"/>
            </a:br>
            <a:r>
              <a:rPr lang="ru-RU" dirty="0" smtClean="0"/>
              <a:t>это было лаконично и понятно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5985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724" y="129994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@</a:t>
            </a:r>
            <a:r>
              <a:rPr lang="en-US" dirty="0" err="1" smtClean="0"/>
              <a:t>StudentsHouseBot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sz="4000" dirty="0" smtClean="0"/>
              <a:t>Регистрируйтесь</a:t>
            </a:r>
            <a:r>
              <a:rPr lang="en-US" sz="4000" dirty="0" smtClean="0"/>
              <a:t>, </a:t>
            </a:r>
            <a:r>
              <a:rPr lang="ru-RU" sz="4000" dirty="0" smtClean="0"/>
              <a:t>пользуйтесь</a:t>
            </a:r>
            <a:r>
              <a:rPr lang="en-US" sz="4000" dirty="0" smtClean="0"/>
              <a:t>, </a:t>
            </a:r>
            <a:r>
              <a:rPr lang="ru-RU" sz="4000" smtClean="0"/>
              <a:t>помогайте развивать проект</a:t>
            </a:r>
            <a:endParaRPr lang="ru-RU" sz="4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24" y="1696598"/>
            <a:ext cx="6548846" cy="43542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57896" y="2673412"/>
            <a:ext cx="35879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/>
              <a:t>Продолжаем работать!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4232339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1029</TotalTime>
  <Words>288</Words>
  <Application>Microsoft Office PowerPoint</Application>
  <PresentationFormat>Экран (4:3)</PresentationFormat>
  <Paragraphs>71</Paragraphs>
  <Slides>23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Calibri Light (Заголовки)</vt:lpstr>
      <vt:lpstr>Office Theme</vt:lpstr>
      <vt:lpstr>PaMagiTe Представляет</vt:lpstr>
      <vt:lpstr>@StudentsHouseBot Мотивация</vt:lpstr>
      <vt:lpstr>@StudentsHouseBot Мотивация</vt:lpstr>
      <vt:lpstr>@StudentsHouseBot Мотивация</vt:lpstr>
      <vt:lpstr>@StudentsHouseBot Мотивация</vt:lpstr>
      <vt:lpstr>@StudentsHouseBot Помогает решать эти и другие задачи</vt:lpstr>
      <vt:lpstr>@StudentsHouseBot Описание команд</vt:lpstr>
      <vt:lpstr>@StudentsHouseBot Не забудьте зарегистрироваться</vt:lpstr>
      <vt:lpstr>@StudentsHouseBot Вы можете изменять данные о себе</vt:lpstr>
      <vt:lpstr>@StudentsHouseBot Кто живёт в комнате?</vt:lpstr>
      <vt:lpstr>@StudentsHouseBot Где живёт студент?</vt:lpstr>
      <vt:lpstr>@StudentsHouseBot Пишем своим соседям</vt:lpstr>
      <vt:lpstr>@StudentsHouseBot Поздравляем соседей с ДР!!!</vt:lpstr>
      <vt:lpstr>@StudentsHouseBot Можно узнать свежую информацию с ваших источников информации</vt:lpstr>
      <vt:lpstr>@StudentsHouseBot Ваш список отслеживаемых групп</vt:lpstr>
      <vt:lpstr>@StudentsHouseBot Подписка/Отписка от групп</vt:lpstr>
      <vt:lpstr>@StudentsHouseBot Можно смотреть как последний пост, как и получать сообщение в текущем времени</vt:lpstr>
      <vt:lpstr>@StudentsHouseBot Планы на будущее</vt:lpstr>
      <vt:lpstr>@StudentsHouseBot Планы на будущее</vt:lpstr>
      <vt:lpstr>@StudentsHouseBot Планы на будущее</vt:lpstr>
      <vt:lpstr>@StudentsHouseBot Планы на будущее</vt:lpstr>
      <vt:lpstr>@StudentsHouseBot Планы на будущее</vt:lpstr>
      <vt:lpstr>@StudentsHouseBot Регистрируйтесь, пользуйтесь, помогайте развивать проект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OF  PRESENTATION</dc:title>
  <dc:creator>User</dc:creator>
  <cp:lastModifiedBy>Александр Наумцев</cp:lastModifiedBy>
  <cp:revision>41</cp:revision>
  <dcterms:created xsi:type="dcterms:W3CDTF">2020-05-19T07:28:08Z</dcterms:created>
  <dcterms:modified xsi:type="dcterms:W3CDTF">2020-12-28T11:05:24Z</dcterms:modified>
</cp:coreProperties>
</file>